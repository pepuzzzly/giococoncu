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1a347c29-0d87-cc3d-ad54-e689cfb7710d}">
          <p14:sldIdLst>
            <p14:sldId id="256"/>
          </p14:sldIdLst>
        </p14:section>
        <p14:section name="Teoria" id="{f4e3daa7-30c6-f50c-554a-883e6fa1098f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onversioni" id="{09a21313-e6a7-5a7b-3f69-d6e0f3fe6fb2}">
          <p14:sldIdLst>
            <p14:sldId id="265"/>
            <p14:sldId id="266"/>
            <p14:sldId id="267"/>
            <p14:sldId id="268"/>
            <p14:sldId id="269"/>
          </p14:sldIdLst>
        </p14:section>
        <p14:section name="Chiusura" id="{c15bd547-388b-9f5b-6d98-f47ab68c5436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Ripartizione proposta: modificare i tempi in base alla durata della presentazione.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3  |  SISTEMI DI NUMERAZIONE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_T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67665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3  |  SISTEMI DI NUMERAZIONE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COMPITO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SISTEMI DI NUMERAZIONE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CONVERSIONE DI NUMERI REALI IN BASI DIVERSE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GRUPPO 3:  LOCHE  •  COTZA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Concu  •  A.S. 2026/2027</a:t>
            </a:r>
            <a:endParaRPr lang="en-US" sz="1600" dirty="0"/>
          </a:p>
        </p:txBody>
      </p:sp>
      <p:sp>
        <p:nvSpPr>
          <p:cNvPr id="7" name="Pixel 1"/>
          <p:cNvSpPr/>
          <p:nvPr/>
        </p:nvSpPr>
        <p:spPr>
          <a:xfrm>
            <a:off x="731520" y="4343400"/>
            <a:ext cx="365760" cy="365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ixel 2"/>
          <p:cNvSpPr/>
          <p:nvPr/>
        </p:nvSpPr>
        <p:spPr>
          <a:xfrm>
            <a:off x="1234440" y="4343400"/>
            <a:ext cx="365760" cy="365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Pixel 3"/>
          <p:cNvSpPr/>
          <p:nvPr/>
        </p:nvSpPr>
        <p:spPr>
          <a:xfrm>
            <a:off x="1737360" y="4343400"/>
            <a:ext cx="36576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ixel 4"/>
          <p:cNvSpPr/>
          <p:nvPr/>
        </p:nvSpPr>
        <p:spPr>
          <a:xfrm>
            <a:off x="2240280" y="4343400"/>
            <a:ext cx="365760" cy="3657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 PRESENTA COSA</a:t>
            </a:r>
            <a:endParaRPr lang="en-US" sz="2800" dirty="0"/>
          </a:p>
        </p:txBody>
      </p:sp>
      <p:sp>
        <p:nvSpPr>
          <p:cNvPr id="3" name="Card LOCHE"/>
          <p:cNvSpPr/>
          <p:nvPr/>
        </p:nvSpPr>
        <p:spPr>
          <a:xfrm>
            <a:off x="1188720" y="1371600"/>
            <a:ext cx="3291840" cy="30175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41732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LOCHE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 1-5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5146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Analogico e digitale, perché il digitale, codifica binaria, sistema di numerazione, sistemi esistenti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min</a:t>
            </a:r>
            <a:endParaRPr lang="en-US" sz="1800" dirty="0"/>
          </a:p>
        </p:txBody>
      </p:sp>
      <p:sp>
        <p:nvSpPr>
          <p:cNvPr id="8" name="Card COTZA"/>
          <p:cNvSpPr/>
          <p:nvPr/>
        </p:nvSpPr>
        <p:spPr>
          <a:xfrm>
            <a:off x="4937760" y="1371600"/>
            <a:ext cx="3291840" cy="30175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66360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COTZA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574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Domande 6-10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25146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Conversione e tipi, perché codificare, conversioni assegnate, esempi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min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ANALOGICO O DIGITALE?</a:t>
            </a:r>
            <a:endParaRPr lang="en-US" sz="2800" dirty="0"/>
          </a:p>
        </p:txBody>
      </p:sp>
      <p:sp>
        <p:nvSpPr>
          <p:cNvPr id="3" name="Tag domanda"/>
          <p:cNvSpPr txBox="1"/>
          <p:nvPr/>
        </p:nvSpPr>
        <p:spPr>
          <a:xfrm>
            <a:off x="731520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DOMANDA 1</a:t>
            </a:r>
            <a:endParaRPr lang="en-US" sz="1200" dirty="0"/>
          </a:p>
        </p:txBody>
      </p:sp>
      <p:sp>
        <p:nvSpPr>
          <p:cNvPr id="4" name="Card analogico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ANALOGICA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 in modo CONTINUO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Infiniti valori intermedi: 20.1°, 20.15°, 20.153°...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Esempi: temperatura, suono, vento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Termometro a mercurio</a:t>
            </a:r>
            <a:endParaRPr lang="en-US" sz="1400" dirty="0"/>
          </a:p>
        </p:txBody>
      </p:sp>
      <p:sp>
        <p:nvSpPr>
          <p:cNvPr id="7" name="Card digitale"/>
          <p:cNvSpPr/>
          <p:nvPr/>
        </p:nvSpPr>
        <p:spPr>
          <a:xfrm>
            <a:off x="4663440" y="1371600"/>
            <a:ext cx="4023360" cy="310896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DIGITALE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01168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 DISCRETI, separati e distinti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20°C o 21°C, mai i valori in mezzo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computer usa solo 0 e 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Acceso/spento, vero/falso, alto/basso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PERCHÉ IL DIGITALE?</a:t>
            </a:r>
            <a:endParaRPr lang="en-US" sz="2800" dirty="0"/>
          </a:p>
        </p:txBody>
      </p:sp>
      <p:sp>
        <p:nvSpPr>
          <p:cNvPr id="3" name="Tag domanda"/>
          <p:cNvSpPr txBox="1"/>
          <p:nvPr/>
        </p:nvSpPr>
        <p:spPr>
          <a:xfrm>
            <a:off x="731520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DOMANDA 2</a:t>
            </a:r>
            <a:endParaRPr lang="en-US" sz="1200" dirty="0"/>
          </a:p>
        </p:txBody>
      </p:sp>
      <p:sp>
        <p:nvSpPr>
          <p:cNvPr id="4" name="Card PRECISIONE"/>
          <p:cNvSpPr/>
          <p:nvPr/>
        </p:nvSpPr>
        <p:spPr>
          <a:xfrm>
            <a:off x="457200" y="1371600"/>
            <a:ext cx="4023360" cy="14630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copia senza perdita di qualità</a:t>
            </a:r>
            <a:endParaRPr lang="en-US" sz="1600" dirty="0"/>
          </a:p>
        </p:txBody>
      </p:sp>
      <p:sp>
        <p:nvSpPr>
          <p:cNvPr id="7" name="Card AFFIDABILITÀ"/>
          <p:cNvSpPr/>
          <p:nvPr/>
        </p:nvSpPr>
        <p:spPr>
          <a:xfrm>
            <a:off x="4663440" y="1371600"/>
            <a:ext cx="4023360" cy="14630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AFFIDABILITÀ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057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 a rumore e interferenze</a:t>
            </a:r>
            <a:endParaRPr lang="en-US" sz="1600" dirty="0"/>
          </a:p>
        </p:txBody>
      </p:sp>
      <p:sp>
        <p:nvSpPr>
          <p:cNvPr id="10" name="Card ELABORAZIONE"/>
          <p:cNvSpPr/>
          <p:nvPr/>
        </p:nvSpPr>
        <p:spPr>
          <a:xfrm>
            <a:off x="457200" y="3017520"/>
            <a:ext cx="4023360" cy="14630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ELABORAZIONE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computer lo processano velocemente</a:t>
            </a:r>
            <a:endParaRPr lang="en-US" sz="1600" dirty="0"/>
          </a:p>
        </p:txBody>
      </p:sp>
      <p:sp>
        <p:nvSpPr>
          <p:cNvPr id="13" name="Card MEMORIZZAZIONE"/>
          <p:cNvSpPr/>
          <p:nvPr/>
        </p:nvSpPr>
        <p:spPr>
          <a:xfrm>
            <a:off x="4663440" y="3017520"/>
            <a:ext cx="4023360" cy="14630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MEMORIZZAZIONE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 meno spazio e dura di più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 E CODIFICA BINARIA</a:t>
            </a:r>
            <a:endParaRPr lang="en-US" sz="2800" dirty="0"/>
          </a:p>
        </p:txBody>
      </p:sp>
      <p:sp>
        <p:nvSpPr>
          <p:cNvPr id="3" name="Tag domanda"/>
          <p:cNvSpPr txBox="1"/>
          <p:nvPr/>
        </p:nvSpPr>
        <p:spPr>
          <a:xfrm>
            <a:off x="731520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DOMANDA 3</a:t>
            </a:r>
            <a:endParaRPr lang="en-US" sz="1200" dirty="0"/>
          </a:p>
        </p:txBody>
      </p:sp>
      <p:sp>
        <p:nvSpPr>
          <p:cNvPr id="4" name="Stat 1 BIT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BIT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combinazioni: 0, 1</a:t>
            </a:r>
            <a:endParaRPr lang="en-US" sz="1400" dirty="0"/>
          </a:p>
        </p:txBody>
      </p:sp>
      <p:sp>
        <p:nvSpPr>
          <p:cNvPr id="8" name="Stat 2 BIT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BIT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00, 01, 10, 11</a:t>
            </a:r>
            <a:endParaRPr lang="en-US" sz="1400" dirty="0"/>
          </a:p>
        </p:txBody>
      </p:sp>
      <p:sp>
        <p:nvSpPr>
          <p:cNvPr id="12" name="Stat 8 BIT = 1 BYTE"/>
          <p:cNvSpPr/>
          <p:nvPr/>
        </p:nvSpPr>
        <p:spPr>
          <a:xfrm>
            <a:off x="6126480" y="1371600"/>
            <a:ext cx="2651760" cy="201168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BIT = 1 BYTE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9202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788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0 a 255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 bit: 2^N combinazioni.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binario? Due soli stati (corrente sì/no) sono facili da distinguere: massima affidabilità.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COS'È UN SISTEMA DI NUMERAZIONE</a:t>
            </a:r>
            <a:endParaRPr lang="en-US" sz="2800" dirty="0"/>
          </a:p>
        </p:txBody>
      </p:sp>
      <p:sp>
        <p:nvSpPr>
          <p:cNvPr id="3" name="Tag domanda"/>
          <p:cNvSpPr txBox="1"/>
          <p:nvPr/>
        </p:nvSpPr>
        <p:spPr>
          <a:xfrm>
            <a:off x="731520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DOMANDA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modo di rappresentare i numeri con regole e simboli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Posizionale: il valore di una cifra dipende dalla sua posizione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= numero di simboli disponibili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posizione ha un peso: una potenza della base</a:t>
            </a:r>
            <a:endParaRPr lang="en-US" sz="1600" dirty="0"/>
          </a:p>
        </p:txBody>
      </p:sp>
      <p:sp>
        <p:nvSpPr>
          <p:cNvPr id="5" name="Card polinomio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POLINOMIO PONDERALE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965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1010(2)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697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1×2³ + 0×2² + 1×2¹ + 0×2⁰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8 + 0 + 2 + 0 = 10(10)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QUALI SISTEMI ESISTONO?</a:t>
            </a:r>
            <a:endParaRPr lang="en-US" sz="2800" dirty="0"/>
          </a:p>
        </p:txBody>
      </p:sp>
      <p:sp>
        <p:nvSpPr>
          <p:cNvPr id="3" name="Tag domanda"/>
          <p:cNvSpPr txBox="1"/>
          <p:nvPr/>
        </p:nvSpPr>
        <p:spPr>
          <a:xfrm>
            <a:off x="731520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DOMANDA 5</a:t>
            </a:r>
            <a:endParaRPr lang="en-US" sz="1200" dirty="0"/>
          </a:p>
        </p:txBody>
      </p:sp>
      <p:sp>
        <p:nvSpPr>
          <p:cNvPr id="4" name="Card BINARIO"/>
          <p:cNvSpPr/>
          <p:nvPr/>
        </p:nvSpPr>
        <p:spPr>
          <a:xfrm>
            <a:off x="457200" y="1371600"/>
            <a:ext cx="1965960" cy="30175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BINARIO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0, 1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2918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 dai computer</a:t>
            </a:r>
            <a:endParaRPr lang="en-US" sz="1400" dirty="0"/>
          </a:p>
        </p:txBody>
      </p:sp>
      <p:sp>
        <p:nvSpPr>
          <p:cNvPr id="9" name="Card OTTALE"/>
          <p:cNvSpPr/>
          <p:nvPr/>
        </p:nvSpPr>
        <p:spPr>
          <a:xfrm>
            <a:off x="2560320" y="1371600"/>
            <a:ext cx="1965960" cy="30175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508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OTTALE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011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8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651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0-7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2918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scorciatoia per il binario</a:t>
            </a:r>
            <a:endParaRPr lang="en-US" sz="1400" dirty="0"/>
          </a:p>
        </p:txBody>
      </p:sp>
      <p:sp>
        <p:nvSpPr>
          <p:cNvPr id="14" name="Card DECIMALE"/>
          <p:cNvSpPr/>
          <p:nvPr/>
        </p:nvSpPr>
        <p:spPr>
          <a:xfrm>
            <a:off x="4663440" y="1371600"/>
            <a:ext cx="1965960" cy="30175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1508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011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10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651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0-9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2918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sistema di tutti i giorni</a:t>
            </a:r>
            <a:endParaRPr lang="en-US" sz="1400" dirty="0"/>
          </a:p>
        </p:txBody>
      </p:sp>
      <p:sp>
        <p:nvSpPr>
          <p:cNvPr id="19" name="Card ESADECIMALE"/>
          <p:cNvSpPr/>
          <p:nvPr/>
        </p:nvSpPr>
        <p:spPr>
          <a:xfrm>
            <a:off x="6766560" y="1371600"/>
            <a:ext cx="1965960" cy="30175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0" y="1508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ESADECIMALE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0116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16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651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0-9, A-F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32918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usato nella programmazione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CONVERSIONE: COSA E QUANTI TIPI</a:t>
            </a:r>
            <a:endParaRPr lang="en-US" sz="2800" dirty="0"/>
          </a:p>
        </p:txBody>
      </p:sp>
      <p:sp>
        <p:nvSpPr>
          <p:cNvPr id="3" name="Tag domanda"/>
          <p:cNvSpPr txBox="1"/>
          <p:nvPr/>
        </p:nvSpPr>
        <p:spPr>
          <a:xfrm>
            <a:off x="731520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DOMANDE 6-7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Conversione =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scrivere lo stesso numero con la base di un altro sistema. Il valore non cambia, cambia solo la scrittura.</a:t>
            </a:r>
            <a:endParaRPr lang="en-US" sz="1600" dirty="0"/>
          </a:p>
        </p:txBody>
      </p:sp>
      <p:sp>
        <p:nvSpPr>
          <p:cNvPr id="5" name="Card tipo 1"/>
          <p:cNvSpPr/>
          <p:nvPr/>
        </p:nvSpPr>
        <p:spPr>
          <a:xfrm>
            <a:off x="457200" y="2240280"/>
            <a:ext cx="2651760" cy="228600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DECIMALE → ALTRA BASE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089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Divisioni successive per la base. Resti letti dal basso verso l'alto.</a:t>
            </a:r>
            <a:endParaRPr lang="en-US" sz="1400" dirty="0"/>
          </a:p>
        </p:txBody>
      </p:sp>
      <p:sp>
        <p:nvSpPr>
          <p:cNvPr id="8" name="Card tipo 2"/>
          <p:cNvSpPr/>
          <p:nvPr/>
        </p:nvSpPr>
        <p:spPr>
          <a:xfrm>
            <a:off x="3291840" y="2240280"/>
            <a:ext cx="2651760" cy="228600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ALTRA BASE → DECIMALE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1089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Polinomio ponderale: somma cifra × peso.</a:t>
            </a:r>
            <a:endParaRPr lang="en-US" sz="1400" dirty="0"/>
          </a:p>
        </p:txBody>
      </p:sp>
      <p:sp>
        <p:nvSpPr>
          <p:cNvPr id="11" name="Card tipo 3"/>
          <p:cNvSpPr/>
          <p:nvPr/>
        </p:nvSpPr>
        <p:spPr>
          <a:xfrm>
            <a:off x="6126480" y="2240280"/>
            <a:ext cx="2651760" cy="228600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2377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BINARIO ↔ OTTALE / ESA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10896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Raggruppamento di bit: 3 per l'ottale, 4 per l'esadecimale.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PERCHÉ DOBBIAMO CODIFICARE?</a:t>
            </a:r>
            <a:endParaRPr lang="en-US" sz="2800" dirty="0"/>
          </a:p>
        </p:txBody>
      </p:sp>
      <p:sp>
        <p:nvSpPr>
          <p:cNvPr id="3" name="Tag domanda"/>
          <p:cNvSpPr txBox="1"/>
          <p:nvPr/>
        </p:nvSpPr>
        <p:spPr>
          <a:xfrm>
            <a:off x="731520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DOMANDA 8</a:t>
            </a:r>
            <a:endParaRPr lang="en-US" sz="1200" dirty="0"/>
          </a:p>
        </p:txBody>
      </p:sp>
      <p:sp>
        <p:nvSpPr>
          <p:cNvPr id="4" name="Card NUMERI"/>
          <p:cNvSpPr/>
          <p:nvPr/>
        </p:nvSpPr>
        <p:spPr>
          <a:xfrm>
            <a:off x="457200" y="1371600"/>
            <a:ext cx="4023360" cy="14630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 101</a:t>
            </a:r>
            <a:endParaRPr lang="en-US" sz="1600" dirty="0"/>
          </a:p>
        </p:txBody>
      </p:sp>
      <p:sp>
        <p:nvSpPr>
          <p:cNvPr id="7" name="Card TESTO"/>
          <p:cNvSpPr/>
          <p:nvPr/>
        </p:nvSpPr>
        <p:spPr>
          <a:xfrm>
            <a:off x="4663440" y="1371600"/>
            <a:ext cx="4023360" cy="14630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TESTO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2103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 = 65 = 01000001</a:t>
            </a:r>
            <a:endParaRPr lang="en-US" sz="1600" dirty="0"/>
          </a:p>
        </p:txBody>
      </p:sp>
      <p:sp>
        <p:nvSpPr>
          <p:cNvPr id="10" name="Card IMMAGINI"/>
          <p:cNvSpPr/>
          <p:nvPr/>
        </p:nvSpPr>
        <p:spPr>
          <a:xfrm>
            <a:off x="457200" y="3017520"/>
            <a:ext cx="4023360" cy="14630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IMMAGINI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pixel = bit di colore RGB</a:t>
            </a:r>
            <a:endParaRPr lang="en-US" sz="1600" dirty="0"/>
          </a:p>
        </p:txBody>
      </p:sp>
      <p:sp>
        <p:nvSpPr>
          <p:cNvPr id="13" name="Card AUDIO"/>
          <p:cNvSpPr/>
          <p:nvPr/>
        </p:nvSpPr>
        <p:spPr>
          <a:xfrm>
            <a:off x="4663440" y="3017520"/>
            <a:ext cx="4023360" cy="14630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suono campionato in bit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NOSTRE 3 CONVERSIONI</a:t>
            </a:r>
            <a:endParaRPr lang="en-US" sz="2800" dirty="0"/>
          </a:p>
        </p:txBody>
      </p:sp>
      <p:sp>
        <p:nvSpPr>
          <p:cNvPr id="3" name="Tag domanda"/>
          <p:cNvSpPr txBox="1"/>
          <p:nvPr/>
        </p:nvSpPr>
        <p:spPr>
          <a:xfrm>
            <a:off x="731520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DOMANDA 9</a:t>
            </a:r>
            <a:endParaRPr lang="en-US" sz="1200" dirty="0"/>
          </a:p>
        </p:txBody>
      </p:sp>
      <p:sp>
        <p:nvSpPr>
          <p:cNvPr id="4" name="Card DEC → OTTALE"/>
          <p:cNvSpPr/>
          <p:nvPr/>
        </p:nvSpPr>
        <p:spPr>
          <a:xfrm>
            <a:off x="457200" y="1371600"/>
            <a:ext cx="2651760" cy="30175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 → OTTALE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 8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156(10) = 234(8)</a:t>
            </a:r>
            <a:endParaRPr lang="en-US" sz="1400" dirty="0"/>
          </a:p>
        </p:txBody>
      </p:sp>
      <p:sp>
        <p:nvSpPr>
          <p:cNvPr id="8" name="Card DEC → ESA"/>
          <p:cNvSpPr/>
          <p:nvPr/>
        </p:nvSpPr>
        <p:spPr>
          <a:xfrm>
            <a:off x="3291840" y="1371600"/>
            <a:ext cx="2651760" cy="30175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 → ESA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÷ 16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255(10) = FF(16)</a:t>
            </a:r>
            <a:endParaRPr lang="en-US" sz="1400" dirty="0"/>
          </a:p>
        </p:txBody>
      </p:sp>
      <p:sp>
        <p:nvSpPr>
          <p:cNvPr id="12" name="Card BIN → ESA"/>
          <p:cNvSpPr/>
          <p:nvPr/>
        </p:nvSpPr>
        <p:spPr>
          <a:xfrm>
            <a:off x="6126480" y="1371600"/>
            <a:ext cx="2651760" cy="30175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 → ESA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194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bit = 1 cifra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11010110 = D6(16)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DECIMALE → OTTALE</a:t>
            </a:r>
            <a:endParaRPr lang="en-US" sz="2800" dirty="0"/>
          </a:p>
        </p:txBody>
      </p:sp>
      <p:sp>
        <p:nvSpPr>
          <p:cNvPr id="3" name="Tag domanda"/>
          <p:cNvSpPr txBox="1"/>
          <p:nvPr/>
        </p:nvSpPr>
        <p:spPr>
          <a:xfrm>
            <a:off x="731520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DOMANDA 9</a:t>
            </a:r>
            <a:endParaRPr lang="en-US" sz="1200" dirty="0"/>
          </a:p>
        </p:txBody>
      </p:sp>
      <p:sp>
        <p:nvSpPr>
          <p:cNvPr id="4" name="Card passaggi"/>
          <p:cNvSpPr/>
          <p:nvPr/>
        </p:nvSpPr>
        <p:spPr>
          <a:xfrm>
            <a:off x="457200" y="1371600"/>
            <a:ext cx="4572000" cy="30175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156 ÷ 8 = 19  resto 4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÷ 8  =  2  resto 3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÷ 8  =  0  resto 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661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 letti dal basso verso l'alto</a:t>
            </a:r>
            <a:endParaRPr lang="en-US" sz="1400" dirty="0"/>
          </a:p>
        </p:txBody>
      </p:sp>
      <p:sp>
        <p:nvSpPr>
          <p:cNvPr id="7" name="Card risultato"/>
          <p:cNvSpPr/>
          <p:nvPr/>
        </p:nvSpPr>
        <p:spPr>
          <a:xfrm>
            <a:off x="5303520" y="1371600"/>
            <a:ext cx="3383280" cy="30175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RISULTATO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2103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234(8)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Verifica: 2×64 + 3×8 + 4 = 156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DECIMALE → ESADECIMALE</a:t>
            </a:r>
            <a:endParaRPr lang="en-US" sz="2800" dirty="0"/>
          </a:p>
        </p:txBody>
      </p:sp>
      <p:sp>
        <p:nvSpPr>
          <p:cNvPr id="3" name="Tag domanda"/>
          <p:cNvSpPr txBox="1"/>
          <p:nvPr/>
        </p:nvSpPr>
        <p:spPr>
          <a:xfrm>
            <a:off x="731520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DOMANDA 9</a:t>
            </a:r>
            <a:endParaRPr lang="en-US" sz="1200" dirty="0"/>
          </a:p>
        </p:txBody>
      </p:sp>
      <p:sp>
        <p:nvSpPr>
          <p:cNvPr id="4" name="Card passaggi"/>
          <p:cNvSpPr/>
          <p:nvPr/>
        </p:nvSpPr>
        <p:spPr>
          <a:xfrm>
            <a:off x="457200" y="1371600"/>
            <a:ext cx="4572000" cy="30175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 ÷ 16 = 15  resto 15 → F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15 ÷ 16 =  0  resto 15 → F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1089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 10-15 = lettere: A=10 B=11 C=12 D=13 E=14 F=15</a:t>
            </a:r>
            <a:endParaRPr lang="en-US" sz="1400" dirty="0"/>
          </a:p>
        </p:txBody>
      </p:sp>
      <p:sp>
        <p:nvSpPr>
          <p:cNvPr id="7" name="Card risultato"/>
          <p:cNvSpPr/>
          <p:nvPr/>
        </p:nvSpPr>
        <p:spPr>
          <a:xfrm>
            <a:off x="5303520" y="1371600"/>
            <a:ext cx="3383280" cy="30175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RISULTATO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21031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FF(16)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bianco in RGB è #FFFFFF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BINARIO → ESADECIMALE</a:t>
            </a:r>
            <a:endParaRPr lang="en-US" sz="2800" dirty="0"/>
          </a:p>
        </p:txBody>
      </p:sp>
      <p:sp>
        <p:nvSpPr>
          <p:cNvPr id="3" name="Tag domanda"/>
          <p:cNvSpPr txBox="1"/>
          <p:nvPr/>
        </p:nvSpPr>
        <p:spPr>
          <a:xfrm>
            <a:off x="731520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DOMANDA 9</a:t>
            </a:r>
            <a:endParaRPr lang="en-US" sz="1200" dirty="0"/>
          </a:p>
        </p:txBody>
      </p:sp>
      <p:sp>
        <p:nvSpPr>
          <p:cNvPr id="4" name="Cella 0000=0"/>
          <p:cNvSpPr/>
          <p:nvPr/>
        </p:nvSpPr>
        <p:spPr>
          <a:xfrm>
            <a:off x="457200" y="137160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0000=0</a:t>
            </a:r>
            <a:endParaRPr lang="en-US" sz="1200" dirty="0"/>
          </a:p>
        </p:txBody>
      </p:sp>
      <p:sp>
        <p:nvSpPr>
          <p:cNvPr id="6" name="Cella 0001=1"/>
          <p:cNvSpPr/>
          <p:nvPr/>
        </p:nvSpPr>
        <p:spPr>
          <a:xfrm>
            <a:off x="1508760" y="137160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08760" y="13716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0001=1</a:t>
            </a:r>
            <a:endParaRPr lang="en-US" sz="1200" dirty="0"/>
          </a:p>
        </p:txBody>
      </p:sp>
      <p:sp>
        <p:nvSpPr>
          <p:cNvPr id="8" name="Cella 0010=2"/>
          <p:cNvSpPr/>
          <p:nvPr/>
        </p:nvSpPr>
        <p:spPr>
          <a:xfrm>
            <a:off x="2560320" y="137160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13716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0010=2</a:t>
            </a:r>
            <a:endParaRPr lang="en-US" sz="1200" dirty="0"/>
          </a:p>
        </p:txBody>
      </p:sp>
      <p:sp>
        <p:nvSpPr>
          <p:cNvPr id="10" name="Cella 0011=3"/>
          <p:cNvSpPr/>
          <p:nvPr/>
        </p:nvSpPr>
        <p:spPr>
          <a:xfrm>
            <a:off x="3611880" y="137160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137160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0011=3</a:t>
            </a:r>
            <a:endParaRPr lang="en-US" sz="1200" dirty="0"/>
          </a:p>
        </p:txBody>
      </p:sp>
      <p:sp>
        <p:nvSpPr>
          <p:cNvPr id="12" name="Cella 0100=4"/>
          <p:cNvSpPr/>
          <p:nvPr/>
        </p:nvSpPr>
        <p:spPr>
          <a:xfrm>
            <a:off x="457200" y="210312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10312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0100=4</a:t>
            </a:r>
            <a:endParaRPr lang="en-US" sz="1200" dirty="0"/>
          </a:p>
        </p:txBody>
      </p:sp>
      <p:sp>
        <p:nvSpPr>
          <p:cNvPr id="14" name="Cella 0101=5"/>
          <p:cNvSpPr/>
          <p:nvPr/>
        </p:nvSpPr>
        <p:spPr>
          <a:xfrm>
            <a:off x="1508760" y="210312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08760" y="210312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0101=5</a:t>
            </a:r>
            <a:endParaRPr lang="en-US" sz="1200" dirty="0"/>
          </a:p>
        </p:txBody>
      </p:sp>
      <p:sp>
        <p:nvSpPr>
          <p:cNvPr id="16" name="Cella 0110=6"/>
          <p:cNvSpPr/>
          <p:nvPr/>
        </p:nvSpPr>
        <p:spPr>
          <a:xfrm>
            <a:off x="2560320" y="210312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60320" y="210312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0110=6</a:t>
            </a:r>
            <a:endParaRPr lang="en-US" sz="1200" dirty="0"/>
          </a:p>
        </p:txBody>
      </p:sp>
      <p:sp>
        <p:nvSpPr>
          <p:cNvPr id="18" name="Cella 0111=7"/>
          <p:cNvSpPr/>
          <p:nvPr/>
        </p:nvSpPr>
        <p:spPr>
          <a:xfrm>
            <a:off x="3611880" y="210312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11880" y="210312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0111=7</a:t>
            </a:r>
            <a:endParaRPr lang="en-US" sz="1200" dirty="0"/>
          </a:p>
        </p:txBody>
      </p:sp>
      <p:sp>
        <p:nvSpPr>
          <p:cNvPr id="20" name="Cella 1000=8"/>
          <p:cNvSpPr/>
          <p:nvPr/>
        </p:nvSpPr>
        <p:spPr>
          <a:xfrm>
            <a:off x="457200" y="283464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283464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1000=8</a:t>
            </a:r>
            <a:endParaRPr lang="en-US" sz="1200" dirty="0"/>
          </a:p>
        </p:txBody>
      </p:sp>
      <p:sp>
        <p:nvSpPr>
          <p:cNvPr id="22" name="Cella 1001=9"/>
          <p:cNvSpPr/>
          <p:nvPr/>
        </p:nvSpPr>
        <p:spPr>
          <a:xfrm>
            <a:off x="1508760" y="283464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508760" y="283464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1001=9</a:t>
            </a:r>
            <a:endParaRPr lang="en-US" sz="1200" dirty="0"/>
          </a:p>
        </p:txBody>
      </p:sp>
      <p:sp>
        <p:nvSpPr>
          <p:cNvPr id="24" name="Cella 1010=A"/>
          <p:cNvSpPr/>
          <p:nvPr/>
        </p:nvSpPr>
        <p:spPr>
          <a:xfrm>
            <a:off x="2560320" y="283464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560320" y="283464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1010=A</a:t>
            </a:r>
            <a:endParaRPr lang="en-US" sz="1200" dirty="0"/>
          </a:p>
        </p:txBody>
      </p:sp>
      <p:sp>
        <p:nvSpPr>
          <p:cNvPr id="26" name="Cella 1011=B"/>
          <p:cNvSpPr/>
          <p:nvPr/>
        </p:nvSpPr>
        <p:spPr>
          <a:xfrm>
            <a:off x="3611880" y="283464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11880" y="283464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1011=B</a:t>
            </a:r>
            <a:endParaRPr lang="en-US" sz="1200" dirty="0"/>
          </a:p>
        </p:txBody>
      </p:sp>
      <p:sp>
        <p:nvSpPr>
          <p:cNvPr id="28" name="Cella 1100=C"/>
          <p:cNvSpPr/>
          <p:nvPr/>
        </p:nvSpPr>
        <p:spPr>
          <a:xfrm>
            <a:off x="457200" y="356616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56616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1100=C</a:t>
            </a:r>
            <a:endParaRPr lang="en-US" sz="1200" dirty="0"/>
          </a:p>
        </p:txBody>
      </p:sp>
      <p:sp>
        <p:nvSpPr>
          <p:cNvPr id="30" name="Cella 1101=D"/>
          <p:cNvSpPr/>
          <p:nvPr/>
        </p:nvSpPr>
        <p:spPr>
          <a:xfrm>
            <a:off x="1508760" y="356616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08760" y="356616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1101=D</a:t>
            </a:r>
            <a:endParaRPr lang="en-US" sz="1200" dirty="0"/>
          </a:p>
        </p:txBody>
      </p:sp>
      <p:sp>
        <p:nvSpPr>
          <p:cNvPr id="32" name="Cella 1110=E"/>
          <p:cNvSpPr/>
          <p:nvPr/>
        </p:nvSpPr>
        <p:spPr>
          <a:xfrm>
            <a:off x="2560320" y="356616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560320" y="356616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1110=E</a:t>
            </a:r>
            <a:endParaRPr lang="en-US" sz="1200" dirty="0"/>
          </a:p>
        </p:txBody>
      </p:sp>
      <p:sp>
        <p:nvSpPr>
          <p:cNvPr id="34" name="Cella 1111=F"/>
          <p:cNvSpPr/>
          <p:nvPr/>
        </p:nvSpPr>
        <p:spPr>
          <a:xfrm>
            <a:off x="3611880" y="3566160"/>
            <a:ext cx="960120" cy="640080"/>
          </a:xfrm>
          <a:prstGeom prst="rect">
            <a:avLst/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611880" y="3566160"/>
            <a:ext cx="960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1111=F</a:t>
            </a:r>
            <a:endParaRPr lang="en-US" sz="1200" dirty="0"/>
          </a:p>
        </p:txBody>
      </p:sp>
      <p:sp>
        <p:nvSpPr>
          <p:cNvPr id="36" name="Card esempio"/>
          <p:cNvSpPr/>
          <p:nvPr/>
        </p:nvSpPr>
        <p:spPr>
          <a:xfrm>
            <a:off x="4846320" y="1371600"/>
            <a:ext cx="3840480" cy="28346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029200" y="1508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ESEMPIO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0" y="1965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1101 | 0110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   |   6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5029200" y="3108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11010110(2) = D6(16)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029200" y="3611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non multipli di 4? Zeri a sinistra.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ESEMPI SVOLTI</a:t>
            </a:r>
            <a:endParaRPr lang="en-US" sz="2800" dirty="0"/>
          </a:p>
        </p:txBody>
      </p:sp>
      <p:sp>
        <p:nvSpPr>
          <p:cNvPr id="3" name="Tag domanda"/>
          <p:cNvSpPr txBox="1"/>
          <p:nvPr/>
        </p:nvSpPr>
        <p:spPr>
          <a:xfrm>
            <a:off x="731520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DOMANDA 10</a:t>
            </a:r>
            <a:endParaRPr lang="en-US" sz="1200" dirty="0"/>
          </a:p>
        </p:txBody>
      </p:sp>
      <p:sp>
        <p:nvSpPr>
          <p:cNvPr id="4" name="Card esempio 1"/>
          <p:cNvSpPr/>
          <p:nvPr/>
        </p:nvSpPr>
        <p:spPr>
          <a:xfrm>
            <a:off x="457200" y="1371600"/>
            <a:ext cx="4023360" cy="14630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100(10) → ottale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65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144(8)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ver.: 64+32+4</a:t>
            </a:r>
            <a:endParaRPr lang="en-US" sz="1400" dirty="0"/>
          </a:p>
        </p:txBody>
      </p:sp>
      <p:sp>
        <p:nvSpPr>
          <p:cNvPr id="8" name="Card esempio 2"/>
          <p:cNvSpPr/>
          <p:nvPr/>
        </p:nvSpPr>
        <p:spPr>
          <a:xfrm>
            <a:off x="4663440" y="1371600"/>
            <a:ext cx="4023360" cy="14630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83(10) → ottale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965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123(8)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103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ver.: 64+16+3</a:t>
            </a:r>
            <a:endParaRPr lang="en-US" sz="1400" dirty="0"/>
          </a:p>
        </p:txBody>
      </p:sp>
      <p:sp>
        <p:nvSpPr>
          <p:cNvPr id="12" name="Card esempio 3"/>
          <p:cNvSpPr/>
          <p:nvPr/>
        </p:nvSpPr>
        <p:spPr>
          <a:xfrm>
            <a:off x="457200" y="3017520"/>
            <a:ext cx="4023360" cy="14630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175(10) → esadecimale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11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AF(16)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ver.: 160+15</a:t>
            </a:r>
            <a:endParaRPr lang="en-US" sz="1400" dirty="0"/>
          </a:p>
        </p:txBody>
      </p:sp>
      <p:sp>
        <p:nvSpPr>
          <p:cNvPr id="16" name="Card esempio 4"/>
          <p:cNvSpPr/>
          <p:nvPr/>
        </p:nvSpPr>
        <p:spPr>
          <a:xfrm>
            <a:off x="4663440" y="3017520"/>
            <a:ext cx="4023360" cy="146304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10101111(2) → esadecimale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611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AF(16)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1010=A  1111=F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 TOCCA A VOI: ESCAPE GAME</a:t>
            </a:r>
            <a:endParaRPr lang="en-US" sz="2800" dirty="0"/>
          </a:p>
        </p:txBody>
      </p:sp>
      <p:sp>
        <p:nvSpPr>
          <p:cNvPr id="3" name="Stat missioni da superare in ordine"/>
          <p:cNvSpPr/>
          <p:nvPr/>
        </p:nvSpPr>
        <p:spPr>
          <a:xfrm>
            <a:off x="457200" y="1371600"/>
            <a:ext cx="2651760" cy="21031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missioni da superare in ordine</a:t>
            </a:r>
            <a:endParaRPr lang="en-US" sz="1400" dirty="0"/>
          </a:p>
        </p:txBody>
      </p:sp>
      <p:sp>
        <p:nvSpPr>
          <p:cNvPr id="6" name="Stat vite per ogni missione"/>
          <p:cNvSpPr/>
          <p:nvPr/>
        </p:nvSpPr>
        <p:spPr>
          <a:xfrm>
            <a:off x="3291840" y="1371600"/>
            <a:ext cx="2651760" cy="21031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per ogni missione</a:t>
            </a:r>
            <a:endParaRPr lang="en-US" sz="1400" dirty="0"/>
          </a:p>
        </p:txBody>
      </p:sp>
      <p:sp>
        <p:nvSpPr>
          <p:cNvPr id="9" name="Stat per ogni domanda"/>
          <p:cNvSpPr/>
          <p:nvPr/>
        </p:nvSpPr>
        <p:spPr>
          <a:xfrm>
            <a:off x="6126480" y="1371600"/>
            <a:ext cx="2651760" cy="2103120"/>
          </a:xfrm>
          <a:prstGeom prst="rect">
            <a:avLst/>
          </a:prstGeom>
          <a:solidFill>
            <a:schemeClr val="tx2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s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651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domanda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Lezione, quiz e una cifra segreta per missione. Con le 4 cifre si apre la password finale.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GRAZIE!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Domande?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Gruppo 3: Loche • Cotza   |   Prof. Concu   |   A.S. 2026/2027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cape Game Arcade">
  <a:themeElements>
    <a:clrScheme name="Escape Game Arcade">
      <a:dk1>
        <a:srgbClr val="0A0A0A"/>
      </a:dk1>
      <a:lt1>
        <a:srgbClr val="FFFFFF"/>
      </a:lt1>
      <a:dk2>
        <a:srgbClr val="1A1A2E"/>
      </a:dk2>
      <a:lt2>
        <a:srgbClr val="D1D5DB"/>
      </a:lt2>
      <a:accent1>
        <a:srgbClr val="FF406F"/>
      </a:accent1>
      <a:accent2>
        <a:srgbClr val="C2FF2D"/>
      </a:accent2>
      <a:accent3>
        <a:srgbClr val="5DA5FB"/>
      </a:accent3>
      <a:accent4>
        <a:srgbClr val="B157CE"/>
      </a:accent4>
      <a:accent5>
        <a:srgbClr val="FFD23F"/>
      </a:accent5>
      <a:accent6>
        <a:srgbClr val="9CA3AF"/>
      </a:accent6>
      <a:hlink>
        <a:srgbClr val="5DA5FB"/>
      </a:hlink>
      <a:folHlink>
        <a:srgbClr val="B157CE"/>
      </a:folHlink>
    </a:clrScheme>
    <a:fontScheme name="Escape Game Arcade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Sistemi di numerazione e conversione - Gruppo 3</dc:title>
  <dc:subject>PptxGenJS Presentation</dc:subject>
  <dc:creator>Loche, Cotza</dc:creator>
  <cp:lastModifiedBy>Loche, Cotza</cp:lastModifiedBy>
  <cp:revision>1</cp:revision>
  <dcterms:created xsi:type="dcterms:W3CDTF">2026-10-21T08:40:40Z</dcterms:created>
  <dcterms:modified xsi:type="dcterms:W3CDTF">2026-10-21T08:40:40Z</dcterms:modified>
</cp:coreProperties>
</file>